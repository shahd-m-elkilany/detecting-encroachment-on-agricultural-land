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project. State the problem (agricultural land loss) and high-level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field inspection cannot scale. Sentinel-2 provides free 10m imagery every 5 days over all of Egypt.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step at a high level. The pipeline is fully automated from GeoTIFF input to HTML report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step feeds the next. Steps 05-07 use pretrained transformer models requiring no retraining on our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03, 04 require no dataset. Step 08 uses KEMET1 which we built and labelled ourselves.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pct_conv and pct_new are flagged as circular features because they appear in both the label rule and the feature vector.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 AUC = 0.9444 is the number to cite. Test is inflated because labels derive from the same thresholds used as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0.0681 drop is the circularity premium. Even without it, 0.8763 is a strong result for a domain adaptation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encroachment_summary.html in the demo. Click a site to navigate to its individual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open-source. The only cost is GEE API quota for satellite downloads.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Navigate to encroachment_summary.html and click markers to show individual reports during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the system is production-ready for Egyptian agricultural monitoring. Ablation AUC 0.8763 is the conservative honest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Q: (1) Why RF not deep learning only? Interpretable, fast, no GPU needed. (2) Circularity? Ablation AUC 0.8763. (3) Scale? All Egypt at no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164592" cy="22860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for Food Security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Buildings on Agricultural Land Using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Imagery &amp; Random Forest Classification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 Delta, Egypt  |  Sentinel-2 L2A  |  KEMET1 Dataset  |  2024-2025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- AI &amp;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6517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14884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hectares of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 Delta farmland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6517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1430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~50K+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00400" y="214884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hectares lost 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since 2010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051560"/>
            <a:ext cx="26517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1430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035040" y="214884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slow,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expensive, incomplete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automatically detect where buildings were built on farmland using free satellite data?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- 8-Step AI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24712"/>
            <a:ext cx="457200" cy="45720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1556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0515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Sentinel-2 satellite images (before &amp; after)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457200" cy="45720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07568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clouds; compute NDVI, NDBI, MNDWI indices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044952"/>
            <a:ext cx="457200" cy="45720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03580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971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changed pixels (ChangeFormer transformer)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4005072"/>
            <a:ext cx="457200" cy="45720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99592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931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agricultural land (SegFormer-B4)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1124712"/>
            <a:ext cx="457200" cy="45720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11556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49240" y="10515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buildings with SAM (Segment Anything)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2084832"/>
            <a:ext cx="457200" cy="45720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07568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49240" y="2011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encroachment with KEMET1 Random Forest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3044952"/>
            <a:ext cx="457200" cy="45720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303580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9240" y="2971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geocoded per-site HTML report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4005072"/>
            <a:ext cx="457200" cy="45720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99592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49240" y="3931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master Egypt encroachment map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280160"/>
            <a:ext cx="969264" cy="960120"/>
          </a:xfrm>
          <a:prstGeom prst="roundRect">
            <a:avLst>
              <a:gd name="adj" fmla="val 7619"/>
            </a:avLst>
          </a:prstGeom>
          <a:solidFill>
            <a:srgbClr val="0D6E6E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3258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" y="1600200"/>
            <a:ext cx="969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97864" y="1760220"/>
            <a:ext cx="64008" cy="0"/>
          </a:xfrm>
          <a:prstGeom prst="line">
            <a:avLst/>
          </a:prstGeom>
          <a:noFill/>
          <a:ln w="19050">
            <a:solidFill>
              <a:srgbClr val="E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61872" y="1280160"/>
            <a:ext cx="969264" cy="960120"/>
          </a:xfrm>
          <a:prstGeom prst="roundRect">
            <a:avLst>
              <a:gd name="adj" fmla="val 7619"/>
            </a:avLst>
          </a:prstGeom>
          <a:solidFill>
            <a:srgbClr val="0D6E6E"/>
          </a:solidFill>
          <a:ln/>
        </p:spPr>
      </p:sp>
      <p:sp>
        <p:nvSpPr>
          <p:cNvPr id="9" name="Text 7"/>
          <p:cNvSpPr/>
          <p:nvPr/>
        </p:nvSpPr>
        <p:spPr>
          <a:xfrm>
            <a:off x="1261872" y="13258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61872" y="1600200"/>
            <a:ext cx="969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31136" y="1760220"/>
            <a:ext cx="64008" cy="0"/>
          </a:xfrm>
          <a:prstGeom prst="line">
            <a:avLst/>
          </a:prstGeom>
          <a:noFill/>
          <a:ln w="19050">
            <a:solidFill>
              <a:srgbClr val="E9A82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95144" y="1280160"/>
            <a:ext cx="969264" cy="960120"/>
          </a:xfrm>
          <a:prstGeom prst="roundRect">
            <a:avLst>
              <a:gd name="adj" fmla="val 7619"/>
            </a:avLst>
          </a:prstGeom>
          <a:solidFill>
            <a:srgbClr val="0D6E6E"/>
          </a:solidFill>
          <a:ln/>
        </p:spPr>
      </p:sp>
      <p:sp>
        <p:nvSpPr>
          <p:cNvPr id="13" name="Text 11"/>
          <p:cNvSpPr/>
          <p:nvPr/>
        </p:nvSpPr>
        <p:spPr>
          <a:xfrm>
            <a:off x="2295144" y="13258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95144" y="1600200"/>
            <a:ext cx="969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4408" y="1760220"/>
            <a:ext cx="64008" cy="0"/>
          </a:xfrm>
          <a:prstGeom prst="line">
            <a:avLst/>
          </a:prstGeom>
          <a:noFill/>
          <a:ln w="19050">
            <a:solidFill>
              <a:srgbClr val="E9A82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28416" y="1280160"/>
            <a:ext cx="969264" cy="960120"/>
          </a:xfrm>
          <a:prstGeom prst="roundRect">
            <a:avLst>
              <a:gd name="adj" fmla="val 7619"/>
            </a:avLst>
          </a:prstGeom>
          <a:solidFill>
            <a:srgbClr val="0D6E6E"/>
          </a:solidFill>
          <a:ln/>
        </p:spPr>
      </p:sp>
      <p:sp>
        <p:nvSpPr>
          <p:cNvPr id="17" name="Text 15"/>
          <p:cNvSpPr/>
          <p:nvPr/>
        </p:nvSpPr>
        <p:spPr>
          <a:xfrm>
            <a:off x="3328416" y="13258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28416" y="1600200"/>
            <a:ext cx="969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1760220"/>
            <a:ext cx="64008" cy="0"/>
          </a:xfrm>
          <a:prstGeom prst="line">
            <a:avLst/>
          </a:prstGeom>
          <a:noFill/>
          <a:ln w="19050">
            <a:solidFill>
              <a:srgbClr val="E9A82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61688" y="1280160"/>
            <a:ext cx="969264" cy="960120"/>
          </a:xfrm>
          <a:prstGeom prst="roundRect">
            <a:avLst>
              <a:gd name="adj" fmla="val 7619"/>
            </a:avLst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4361688" y="13258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61688" y="1600200"/>
            <a:ext cx="969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30952" y="1760220"/>
            <a:ext cx="64008" cy="0"/>
          </a:xfrm>
          <a:prstGeom prst="line">
            <a:avLst/>
          </a:prstGeom>
          <a:noFill/>
          <a:ln w="19050">
            <a:solidFill>
              <a:srgbClr val="E9A82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1280160"/>
            <a:ext cx="969264" cy="960120"/>
          </a:xfrm>
          <a:prstGeom prst="roundRect">
            <a:avLst>
              <a:gd name="adj" fmla="val 7619"/>
            </a:avLst>
          </a:prstGeom>
          <a:solidFill>
            <a:srgbClr val="2E7D32"/>
          </a:solidFill>
          <a:ln/>
        </p:spPr>
      </p:sp>
      <p:sp>
        <p:nvSpPr>
          <p:cNvPr id="25" name="Text 23"/>
          <p:cNvSpPr/>
          <p:nvPr/>
        </p:nvSpPr>
        <p:spPr>
          <a:xfrm>
            <a:off x="5394960" y="13258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94960" y="1600200"/>
            <a:ext cx="969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64224" y="1760220"/>
            <a:ext cx="64008" cy="0"/>
          </a:xfrm>
          <a:prstGeom prst="line">
            <a:avLst/>
          </a:prstGeom>
          <a:noFill/>
          <a:ln w="19050">
            <a:solidFill>
              <a:srgbClr val="E9A82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28232" y="1280160"/>
            <a:ext cx="969264" cy="960120"/>
          </a:xfrm>
          <a:prstGeom prst="roundRect">
            <a:avLst>
              <a:gd name="adj" fmla="val 7619"/>
            </a:avLst>
          </a:prstGeom>
          <a:solidFill>
            <a:srgbClr val="2E7D32"/>
          </a:solidFill>
          <a:ln/>
        </p:spPr>
      </p:sp>
      <p:sp>
        <p:nvSpPr>
          <p:cNvPr id="29" name="Text 27"/>
          <p:cNvSpPr/>
          <p:nvPr/>
        </p:nvSpPr>
        <p:spPr>
          <a:xfrm>
            <a:off x="6428232" y="13258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28232" y="1600200"/>
            <a:ext cx="969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97496" y="1760220"/>
            <a:ext cx="64008" cy="0"/>
          </a:xfrm>
          <a:prstGeom prst="line">
            <a:avLst/>
          </a:prstGeom>
          <a:noFill/>
          <a:ln w="19050">
            <a:solidFill>
              <a:srgbClr val="E9A82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61504" y="1280160"/>
            <a:ext cx="969264" cy="960120"/>
          </a:xfrm>
          <a:prstGeom prst="roundRect">
            <a:avLst>
              <a:gd name="adj" fmla="val 7619"/>
            </a:avLst>
          </a:prstGeom>
          <a:solidFill>
            <a:srgbClr val="B71C1C"/>
          </a:solidFill>
          <a:ln/>
        </p:spPr>
      </p:sp>
      <p:sp>
        <p:nvSpPr>
          <p:cNvPr id="33" name="Text 31"/>
          <p:cNvSpPr/>
          <p:nvPr/>
        </p:nvSpPr>
        <p:spPr>
          <a:xfrm>
            <a:off x="7461504" y="13258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61504" y="1600200"/>
            <a:ext cx="969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0" y="2606040"/>
            <a:ext cx="256032" cy="228600"/>
          </a:xfrm>
          <a:prstGeom prst="rect">
            <a:avLst/>
          </a:prstGeom>
          <a:solidFill>
            <a:srgbClr val="0D6E6E"/>
          </a:solidFill>
          <a:ln/>
        </p:spPr>
      </p:sp>
      <p:sp>
        <p:nvSpPr>
          <p:cNvPr id="36" name="Text 34"/>
          <p:cNvSpPr/>
          <p:nvPr/>
        </p:nvSpPr>
        <p:spPr>
          <a:xfrm>
            <a:off x="2651760" y="2587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Preprocessing (Steps 01-04)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286000" y="2990088"/>
            <a:ext cx="256032" cy="228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8" name="Text 36"/>
          <p:cNvSpPr/>
          <p:nvPr/>
        </p:nvSpPr>
        <p:spPr>
          <a:xfrm>
            <a:off x="2651760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 (Steps 05-07)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286000" y="3374136"/>
            <a:ext cx="256032" cy="22860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40" name="Text 38"/>
          <p:cNvSpPr/>
          <p:nvPr/>
        </p:nvSpPr>
        <p:spPr>
          <a:xfrm>
            <a:off x="2651760" y="3355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(Step 08)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Output: Colored map + geocoded HTML report + master Egypt encroachment map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Models - One Per Step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2194560"/>
                <a:gridCol w="20116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01 - Acquisition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Sentinel-2 L2A via GEE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(download script)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GeoTIFFs (T1, T2)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02 - Cloud Detect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38-Cloud (8,400 patches)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 + ResNet34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mask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03 - Cloud Remove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 Telea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04 - Indices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 math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NDVI, NDBI, MNDWI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05 -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LEVIR-CD (637 pairs)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ChangeFormer (Siamese)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06 - Agri. Seg.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ADE20K (150 classes)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SegFormer-B4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 mask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07 - Building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SpaceNet v2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(ViT)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footprints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08 -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KEMET1 BA (300 sites)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Encroachment 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KEMET1 BeforeAfter 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78992"/>
            <a:ext cx="19659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884578"/>
            <a:ext cx="196596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pairs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00584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78992"/>
            <a:ext cx="19659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/ 222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514600" y="1884578"/>
            <a:ext cx="196596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78992"/>
            <a:ext cx="19659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63440" y="1884578"/>
            <a:ext cx="196596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Spectral-change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100584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78992"/>
            <a:ext cx="19659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10m/px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812280" y="1884578"/>
            <a:ext cx="196596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651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Auto-Labelling Rule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306324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= POSITIVE if: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pct_conv &gt; 0.02576  (% pixels converted veg to built-up)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  max_cluster_ha &gt; 3.13  (largest change cluster &gt; 3.13 ha)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Otherwise: NEGATIVE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0" y="2606040"/>
            <a:ext cx="2834640" cy="2286000"/>
          </a:xfrm>
          <a:prstGeom prst="roundRect">
            <a:avLst>
              <a:gd name="adj" fmla="val 32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0" y="2651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Features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89320" y="30906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92240" y="309067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spectral stats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 percentiles x 6 bands)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36850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92240" y="368503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dNDVI &amp; dNDBI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(mean change)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89320" y="427939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92240" y="42793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pct_conv &amp; pct_new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(circular features)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KEMET1 Random Forest -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7899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0.9444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213969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AUC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(primary metric)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08960" y="10058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08960" y="107899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~1.000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108960" y="213969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(inflated - see note)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1005840"/>
            <a:ext cx="2926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52160" y="1078992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0.8763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852160" y="213969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AUC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circular features)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0690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01752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Confusion @ 0.40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37490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25880"/>
                <a:gridCol w="13258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 NEG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 POS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 NEG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TN=29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FP=4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 POS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FN=2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TP=10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617720" y="2971800"/>
            <a:ext cx="4160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617720" y="30175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Confusion @ 0.40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383280"/>
          <a:ext cx="38862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4173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 NEG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 POS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 NEG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TN=34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FP=0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 POS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FN=0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TP=11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- Circularity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FF8E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Circularity Note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pct_conv and pct_new appear in both the auto-label rule AND the feature vector. The model partly learns to replicate the labelling rule, inflating Test AUC to ~1.0. Val AUC (0.9444) is the honest estimate.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0690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0574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(46 features)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0.9444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65760" y="336499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AUC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6576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TN=34 FP=0 FN=0 TP=11  |  F1=0.917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011680"/>
            <a:ext cx="40690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20574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(44 features, no pct_conv / pct_new)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25603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0.8763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709160" y="336499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AUC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6576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TN=27 FP=7 FN=2 TP=9   |  F1=0.667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= -0.0681 | True generalisation AUC ~ 0.8763 | Model still useful without circular features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Output - Batch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Per-Site HTML Report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False-colour composite (R=NDBI, G=NDVI, B=MNDWI)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side-by-side comparison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Leaflet map with change cluster rectangles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confidence score (0-100%)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area lost in km2 per cluster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Geocoded place name for every cluster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ENCROACHMENT DETECTED banner at threshold 0.40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Statistics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15087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754880" y="20848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sites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5146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54880" y="30906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batch runtime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35204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54880" y="40965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clusters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4114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encroachment_summary.html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Egypt Leaflet map of all 78 sites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424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L2A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Earth Engine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GDAL / rasterio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058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0424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U-Net, ChangeFormer, SegFormer, SAM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00584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00584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006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0424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41732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Random Forest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trees, max_depth=6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 weights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679192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679192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715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09067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GeoPandas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(interactive maps)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 geocoding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679192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679192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37474F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2715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09067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fpdf2 (PDF)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JavaScript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+ geocode pipeline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679192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679192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880E4F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2715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&amp; Version Control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309067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 sync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pinned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Detected Sites (78 Total)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12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607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0 - Beheira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350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clusters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23160" y="1280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6093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Gouhary Farm / Qaryat an Najah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12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0607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23 - Ad Dakahliya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3350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clusters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1280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16093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Gamasa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228600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12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23408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128 - Beheira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2200" y="26151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clusters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83880" y="25603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2200" y="28895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Delingat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28600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12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23408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218 - Beheira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6151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clusters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23160" y="25603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" y="28895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Beheira Governorate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356616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12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91840" y="36210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199 - Matruh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3895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clusters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3840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91840" y="41696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Dauwar Hasan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356616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12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72200" y="36210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265 - Alexandria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3895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clusters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83880" y="3840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72200" y="41696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Village, Alexandria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Governorates covered: Beheira  Sharqia  Alexandria  Matruh  Dakahliya  Ismailia  Monufia  Giza  Kafr El Sheikh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24712"/>
            <a:ext cx="365760" cy="36576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1556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" y="10515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Automated: No manual image analysis needed - 78 sites in 141 seconds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0" cy="36576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7393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17099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Scalable: Free Sentinel-2 coverage over all of Egypt (10m, every 5 days)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441448"/>
            <a:ext cx="365760" cy="365760"/>
          </a:xfrm>
          <a:prstGeom prst="ellipse">
            <a:avLst/>
          </a:prstGeom>
          <a:solidFill>
            <a:srgbClr val="E9A82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3230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236829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Val AUC 0.9444  |  Ablation AUC 0.8763 (honest lower bound)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099816"/>
            <a:ext cx="365760" cy="36576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9067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3026664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Comprehensive: 78 sites confirmed; 800+ change clusters geocoded by location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758184"/>
            <a:ext cx="365760" cy="36576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490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" y="368503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Actionable: Interactive HTML reports + master Egypt Leaflet map + PDF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4416552"/>
            <a:ext cx="365760" cy="36576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40740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0120" y="43434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All code, models, and scripts on GitHub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github.com/Shahd-M-Elkilany/detecting-encroachment-on-agricultural-land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System for Food Security</dc:title>
  <dc:subject>PptxGenJS Presentation</dc:subject>
  <dc:creator>Food Security AI Team</dc:creator>
  <cp:lastModifiedBy>Food Security AI Team</cp:lastModifiedBy>
  <cp:revision>1</cp:revision>
  <dcterms:created xsi:type="dcterms:W3CDTF">2026-06-26T17:45:12Z</dcterms:created>
  <dcterms:modified xsi:type="dcterms:W3CDTF">2026-06-26T17:45:12Z</dcterms:modified>
</cp:coreProperties>
</file>